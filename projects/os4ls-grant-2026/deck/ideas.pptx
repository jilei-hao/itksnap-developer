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E8924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B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SOURCE FOR THE LIFE SCIENCES (OS4LS) ·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ITK-SNAP for AI-Native,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 Segmentation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32688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expert judgment into agentic medical-imaging workflows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2688" y="4343400"/>
            <a:ext cx="5669280" cy="0"/>
          </a:xfrm>
          <a:prstGeom prst="line">
            <a:avLst/>
          </a:prstGeom>
          <a:noFill/>
          <a:ln w="19050">
            <a:solidFill>
              <a:srgbClr val="149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planning — proposed PIs: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Alison Pouch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&amp;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Yushkevich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Intent due June 8,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OS4LS: funding open source for AI-native life science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4672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Renaissance Philanthropy fund (successor to CZI's EOSS) for adopted scientific software.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020824"/>
            <a:ext cx="548640" cy="548640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671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9616" y="2057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funds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9536" y="26974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advances in widely-adopted open-source tools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AI-native, data-intensive, agentic capabilities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&amp; hardware acceleration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" y="4032504"/>
            <a:ext cx="548640" cy="548640"/>
          </a:xfrm>
          <a:prstGeom prst="ellipse">
            <a:avLst/>
          </a:prstGeom>
          <a:solidFill>
            <a:srgbClr val="E892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17880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99616" y="4069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59536" y="4709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rewrite of a legacy tool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new AI/ML models themselves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/ repository infrastructure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55080" y="1783080"/>
            <a:ext cx="528523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55080" y="1783080"/>
            <a:ext cx="109728" cy="841248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18" name="Text 14"/>
          <p:cNvSpPr/>
          <p:nvPr/>
        </p:nvSpPr>
        <p:spPr>
          <a:xfrm>
            <a:off x="6675120" y="178308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$250K</a:t>
            </a:r>
            <a:endParaRPr lang="en-US" sz="2300" dirty="0"/>
          </a:p>
        </p:txBody>
      </p:sp>
      <p:sp>
        <p:nvSpPr>
          <p:cNvPr id="19" name="Text 15"/>
          <p:cNvSpPr/>
          <p:nvPr/>
        </p:nvSpPr>
        <p:spPr>
          <a:xfrm>
            <a:off x="9098280" y="1783080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Domain-specific tool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 years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355080" y="2743200"/>
            <a:ext cx="528523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55080" y="2743200"/>
            <a:ext cx="109728" cy="841248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22" name="Text 18"/>
          <p:cNvSpPr/>
          <p:nvPr/>
        </p:nvSpPr>
        <p:spPr>
          <a:xfrm>
            <a:off x="6675120" y="274320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$1M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9098280" y="2743200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Ecosystem / shared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interoperability, over 2 years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355080" y="3703320"/>
            <a:ext cx="528523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355080" y="3703320"/>
            <a:ext cx="109728" cy="841248"/>
          </a:xfrm>
          <a:prstGeom prst="rect">
            <a:avLst/>
          </a:prstGeom>
          <a:solidFill>
            <a:srgbClr val="E8924A"/>
          </a:solidFill>
          <a:ln/>
        </p:spPr>
      </p:sp>
      <p:sp>
        <p:nvSpPr>
          <p:cNvPr id="26" name="Text 22"/>
          <p:cNvSpPr/>
          <p:nvPr/>
        </p:nvSpPr>
        <p:spPr>
          <a:xfrm>
            <a:off x="6675120" y="370332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 8</a:t>
            </a:r>
            <a:endParaRPr lang="en-US" sz="2300" dirty="0"/>
          </a:p>
        </p:txBody>
      </p:sp>
      <p:sp>
        <p:nvSpPr>
          <p:cNvPr id="27" name="Text 23"/>
          <p:cNvSpPr/>
          <p:nvPr/>
        </p:nvSpPr>
        <p:spPr>
          <a:xfrm>
            <a:off x="9098280" y="3703320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Intent due (2026).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application by invitation.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355080" y="4663440"/>
            <a:ext cx="5285232" cy="96012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6629400" y="47548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B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Priorities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629400" y="502920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  ·  composable AI pipelines  ·  large-scale data  ·  hardware acceleration  ·  interoperability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BB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IDEA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“Model proposes, human disposes.”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 and Hugging Face already make </a:t>
            </a:r>
            <a:pPr indent="0" marL="0">
              <a:buNone/>
            </a:pPr>
            <a:r>
              <a:rPr lang="en-US" sz="1600" i="1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programmable. What agentic medical-imaging pipelines lack is a way to bring </a:t>
            </a:r>
            <a:pPr indent="0" marL="0">
              <a:buNone/>
            </a:pPr>
            <a:r>
              <a:rPr lang="en-US" sz="1600" i="1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human judgment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3063240"/>
            <a:ext cx="676656" cy="676656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325526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352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41248" y="38679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proposes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" y="4206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/ interactive / language models generate a draft segmentation.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358444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53128" y="278892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45736" y="3063240"/>
            <a:ext cx="676656" cy="676656"/>
          </a:xfrm>
          <a:prstGeom prst="ellipse">
            <a:avLst/>
          </a:prstGeom>
          <a:solidFill>
            <a:srgbClr val="E892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25526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352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4745736" y="38679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 disposes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745736" y="4206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verifies, corrects, and approves it in ITK-SNAP — fast, spatial, trusted.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584448"/>
            <a:ext cx="329184" cy="32918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357616" y="278892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650224" y="3063240"/>
            <a:ext cx="676656" cy="676656"/>
          </a:xfrm>
          <a:prstGeom prst="ellipse">
            <a:avLst/>
          </a:prstGeom>
          <a:solidFill>
            <a:srgbClr val="2BB3A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2248" y="3255264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826496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352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16"/>
          <p:cNvSpPr/>
          <p:nvPr/>
        </p:nvSpPr>
        <p:spPr>
          <a:xfrm>
            <a:off x="8650224" y="38679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Captured as data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8650224" y="4206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&amp; interactions become labels, prompts, and training data — a feedback loop.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ITK-SNAP's irreplaceable asset is the expert at the screen. We make that judgment callable.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composable surface, many capabilities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73352"/>
            <a:ext cx="548640" cy="548640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81965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508760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 1 — Headless API + MCP endpoint</a:t>
            </a:r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the connective tissue every other capability plugs into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2103120" cy="24688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743200"/>
            <a:ext cx="2103120" cy="128016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11" name="Shape 8"/>
          <p:cNvSpPr/>
          <p:nvPr/>
        </p:nvSpPr>
        <p:spPr>
          <a:xfrm>
            <a:off x="1252728" y="3127248"/>
            <a:ext cx="694944" cy="694944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33101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" y="39776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 serving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8368" y="45720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itksnap-dls → DLE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816352" y="2743200"/>
            <a:ext cx="2103120" cy="24688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16352" y="2743200"/>
            <a:ext cx="2103120" cy="128016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7" name="Shape 13"/>
          <p:cNvSpPr/>
          <p:nvPr/>
        </p:nvSpPr>
        <p:spPr>
          <a:xfrm>
            <a:off x="3520440" y="3127248"/>
            <a:ext cx="694944" cy="694944"/>
          </a:xfrm>
          <a:prstGeom prst="ellipse">
            <a:avLst/>
          </a:prstGeom>
          <a:solidFill>
            <a:srgbClr val="13678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33101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926080" y="39776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data access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2926080" y="45720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· Flywheel · BIDS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84064" y="2743200"/>
            <a:ext cx="2103120" cy="24688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084064" y="2743200"/>
            <a:ext cx="2103120" cy="128016"/>
          </a:xfrm>
          <a:prstGeom prst="rect">
            <a:avLst/>
          </a:prstGeom>
          <a:solidFill>
            <a:srgbClr val="E8924A"/>
          </a:solidFill>
          <a:ln/>
        </p:spPr>
      </p:sp>
      <p:sp>
        <p:nvSpPr>
          <p:cNvPr id="23" name="Shape 18"/>
          <p:cNvSpPr/>
          <p:nvPr/>
        </p:nvSpPr>
        <p:spPr>
          <a:xfrm>
            <a:off x="5788152" y="3127248"/>
            <a:ext cx="694944" cy="694944"/>
          </a:xfrm>
          <a:prstGeom prst="ellipse">
            <a:avLst/>
          </a:prstGeom>
          <a:solidFill>
            <a:srgbClr val="E8924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331012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93792" y="39776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Registration &amp; 4D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5193792" y="45720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FireANTs · SegFlow4D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351776" y="2743200"/>
            <a:ext cx="2103120" cy="24688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351776" y="2743200"/>
            <a:ext cx="2103120" cy="128016"/>
          </a:xfrm>
          <a:prstGeom prst="rect">
            <a:avLst/>
          </a:prstGeom>
          <a:solidFill>
            <a:srgbClr val="2BB3A3"/>
          </a:solidFill>
          <a:ln/>
        </p:spPr>
      </p:sp>
      <p:sp>
        <p:nvSpPr>
          <p:cNvPr id="29" name="Shape 23"/>
          <p:cNvSpPr/>
          <p:nvPr/>
        </p:nvSpPr>
        <p:spPr>
          <a:xfrm>
            <a:off x="8055864" y="3127248"/>
            <a:ext cx="694944" cy="694944"/>
          </a:xfrm>
          <a:prstGeom prst="ellipse">
            <a:avLst/>
          </a:prstGeom>
          <a:solidFill>
            <a:srgbClr val="2BB3A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744" y="3310128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61504" y="39776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Interoperability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7461504" y="45720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· FEBio · napari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9619488" y="2743200"/>
            <a:ext cx="2103120" cy="24688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9619488" y="2743200"/>
            <a:ext cx="2103120" cy="128016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35" name="Shape 28"/>
          <p:cNvSpPr/>
          <p:nvPr/>
        </p:nvSpPr>
        <p:spPr>
          <a:xfrm>
            <a:off x="10323576" y="3127248"/>
            <a:ext cx="694944" cy="694944"/>
          </a:xfrm>
          <a:prstGeom prst="ellipse">
            <a:avLst/>
          </a:prstGeom>
          <a:solidFill>
            <a:srgbClr val="13678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6456" y="3310128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729216" y="39776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Viewers &amp; agents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9729216" y="45720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IDE · in-app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8F1F4"/>
          </a:solidFill>
          <a:ln w="12700">
            <a:solidFill>
              <a:srgbClr val="C9DEE4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870448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115568" y="571500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tools once; every frontend (GUI, Python, agents, other tools) plugs into the same surface.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Composable human-in-the-loop core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4672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headless inference (MONAI/HF do that) — making expert judgment an orchestrable step.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304288"/>
            <a:ext cx="658368" cy="658368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Headless API + Python wrapper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1248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 core over the toolkit-independent layer.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pip-installable; batch &amp; reproducible workflows.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existing Logic/WorkspaceAPI.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0248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2304288"/>
            <a:ext cx="658368" cy="658368"/>
          </a:xfrm>
          <a:prstGeom prst="ellipse">
            <a:avLst/>
          </a:prstGeom>
          <a:solidFill>
            <a:srgbClr val="13678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48716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2856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MCP server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62856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Agent-facing endpoint (MCP / tool-style).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Client-launched stdio — no hosting, PHI stays local.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remote (HTTP) mode for cloud.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91856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84464" y="2304288"/>
            <a:ext cx="658368" cy="658368"/>
          </a:xfrm>
          <a:prstGeom prst="ellipse">
            <a:avLst/>
          </a:prstGeom>
          <a:solidFill>
            <a:srgbClr val="E892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4871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 primitives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284464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request_review() → corrected seg + decision.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clicks/scribbles/edits as labels &amp; signals.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human-in-the-loop data engine.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8F1F4"/>
          </a:solidFill>
          <a:ln w="12700">
            <a:solidFill>
              <a:srgbClr val="C9DEE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87044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571500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differentiator: expert verification, correction &amp; interaction-capture — callable from any agent.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 serving — itksnap-dls → DLE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4672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our shipped server from one model into a model-agnostic serving layer.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304288"/>
            <a:ext cx="658368" cy="658368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model classes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1248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(nnInteractive, MedSAM2).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Fully-automatic (e.g. spleen / organ in CT).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Language-vision (text-prompted).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0248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2304288"/>
            <a:ext cx="658368" cy="658368"/>
          </a:xfrm>
          <a:prstGeom prst="ellipse">
            <a:avLst/>
          </a:prstGeom>
          <a:solidFill>
            <a:srgbClr val="13678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48716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2856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model discovery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62856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model list in the GUI.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query the server for models + capabilities.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models appear without a GUI release.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91856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84464" y="2304288"/>
            <a:ext cx="658368" cy="658368"/>
          </a:xfrm>
          <a:prstGeom prst="ellipse">
            <a:avLst/>
          </a:prstGeom>
          <a:solidFill>
            <a:srgbClr val="E892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4871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Contributor toolkit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284464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wrapper contract + scaffolding.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Agent-assisted, CI-conformance-gated PRs.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scaling &amp; sustainability engine.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8F1F4"/>
          </a:solidFill>
          <a:ln w="12700">
            <a:solidFill>
              <a:srgbClr val="C9DEE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87044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571500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the shipped itksnap-dls (nnInteractive, REST) — preliminary work, not a prototype.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data access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4672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Find, view, and segment imaging wherever it lives — without download/upload cycles.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304288"/>
            <a:ext cx="658368" cy="658368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Pluggable backends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1248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filesystem, remote Linux (SSH), Flywheel.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interface; framework for community plugins.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XNAT-ready.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0248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2304288"/>
            <a:ext cx="658368" cy="658368"/>
          </a:xfrm>
          <a:prstGeom prst="ellipse">
            <a:avLst/>
          </a:prstGeom>
          <a:solidFill>
            <a:srgbClr val="13678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48716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2856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DICOM / BIDS aware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62856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series &amp; BIDS structure.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display + search.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range reads on large remote files.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91856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84464" y="2304288"/>
            <a:ext cx="658368" cy="658368"/>
          </a:xfrm>
          <a:prstGeom prst="ellipse">
            <a:avLst/>
          </a:prstGeom>
          <a:solidFill>
            <a:srgbClr val="E892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4871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Remote-aware workspaces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284464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remote images in a workspace.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save without pulling full image data.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via OS keychain.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8F1F4"/>
          </a:solidFill>
          <a:ln w="12700">
            <a:solidFill>
              <a:srgbClr val="C9DEE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87044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571500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data-intensive priority; lowest-risk, soundest plumbing.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REGISTRATION &amp; 4D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GPU-accelerated registration &amp; longitudinal propagation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4672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hardware-acceleration pillar — and the real within-subject longitudinal capability.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304288"/>
            <a:ext cx="658368" cy="658368"/>
          </a:xfrm>
          <a:prstGeom prst="ellipse">
            <a:avLst/>
          </a:prstGeom>
          <a:solidFill>
            <a:srgbClr val="E892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FireANTs + greedy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1248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(PyTorch) and CPU registration.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backend-agnostic surface.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 faster / lighter than DL &amp; traditional.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0248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2304288"/>
            <a:ext cx="658368" cy="658368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48716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2856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SegFlow4D propagation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62856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a segmentation across all 4D frames.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Warps label maps AND surface meshes.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backends (FireANTs / greedy / ANTs).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91856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84464" y="2304288"/>
            <a:ext cx="658368" cy="658368"/>
          </a:xfrm>
          <a:prstGeom prst="ellipse">
            <a:avLst/>
          </a:prstGeom>
          <a:solidFill>
            <a:srgbClr val="13678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4871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Longitudinal reuse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284464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monitoring, serial imaging.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Training-data generation across time.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Registration-based — no model retraining.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8F1F4"/>
          </a:solidFill>
          <a:ln w="12700">
            <a:solidFill>
              <a:srgbClr val="C9DEE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87044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571500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 reuse via registration; lower-risk complement to model adaptation.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INTEROPERABILITY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Composable with the tools researchers use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4672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formats + one or two reference integrations — not a pairwise connector zoo.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304288"/>
            <a:ext cx="658368" cy="658368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Slicer interchange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1248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label names, colors, hierarchy, coding.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DICOM-SEG as the lingua franca.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ITK-SNAP as the human checkpoint for Slicer.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0248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2304288"/>
            <a:ext cx="658368" cy="658368"/>
          </a:xfrm>
          <a:prstGeom prst="ellipse">
            <a:avLst/>
          </a:prstGeom>
          <a:solidFill>
            <a:srgbClr val="E892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48716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2856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 → biomechanics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62856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seg → material-tagged tet mesh.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FEBio / OpenSim.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/ mitral-valve / musculoskeletal.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91856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84464" y="2304288"/>
            <a:ext cx="658368" cy="658368"/>
          </a:xfrm>
          <a:prstGeom prst="ellipse">
            <a:avLst/>
          </a:prstGeom>
          <a:solidFill>
            <a:srgbClr val="13678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4871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interop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284464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ITK-SNAP as a node in napari / MONAI.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Aim 1 API + serving protocol.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recipes, not bespoke glue.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8F1F4"/>
          </a:solidFill>
          <a:ln w="12700">
            <a:solidFill>
              <a:srgbClr val="C9DEE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87044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571500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meshes (SegFlow4D) → time-resolved biomechanics: e.g. mitral valve over the cardiac cycle.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SURFACES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human meets the agent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4672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viewer, reachable from browser, IDE, and inside ITK-SNAP.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304288"/>
            <a:ext cx="658368" cy="658368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viewer / QC panel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1248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+ 3D rendering (niivue / WebAssembly).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correct, accept/reject results.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from the headless API.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0248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2304288"/>
            <a:ext cx="658368" cy="658368"/>
          </a:xfrm>
          <a:prstGeom prst="ellipse">
            <a:avLst/>
          </a:prstGeom>
          <a:solidFill>
            <a:srgbClr val="13678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48716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2856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 / Cursor webview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62856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viewer embedded in the AI IDE.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switch from the agent.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handoff: summon → inspect → callback.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91856" y="201168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84464" y="2304288"/>
            <a:ext cx="658368" cy="658368"/>
          </a:xfrm>
          <a:prstGeom prst="ellipse">
            <a:avLst/>
          </a:prstGeom>
          <a:solidFill>
            <a:srgbClr val="E892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4871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In-app agent panel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284464" y="3767328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Bring-your-own-agent (MCP), not a clone.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GUI context: 'segment this'.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Vendor-neutral; undo/provenance for safety.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8F1F4"/>
          </a:solidFill>
          <a:ln w="12700">
            <a:solidFill>
              <a:srgbClr val="C9DEE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87044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571500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summons the right view (deep-linked) → human disposes → structured result flows back.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looks like in practice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4672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does the rote work; the expert is pulled in only where judgment matters.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629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39696"/>
            <a:ext cx="676656" cy="676656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317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103120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Cohort segmentation at scale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37360" y="2487168"/>
            <a:ext cx="3945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segments 200 scans; the expert reviews only the ~12 flagged. Every decision logged.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737360" y="3154680"/>
            <a:ext cx="3945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96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Aims 1 + 2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77356" y="1828800"/>
            <a:ext cx="53629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69964" y="2139696"/>
            <a:ext cx="676656" cy="676656"/>
          </a:xfrm>
          <a:prstGeom prst="ellipse">
            <a:avLst/>
          </a:prstGeom>
          <a:solidFill>
            <a:srgbClr val="E892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88" y="233172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66076" y="2103120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Valve → biomechanics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466076" y="2487168"/>
            <a:ext cx="3945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mitral valve, export a FEBio-ready mesh — 4D over the cardiac cycle.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466076" y="3154680"/>
            <a:ext cx="3945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Aims 1.3 + 4.2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703320"/>
            <a:ext cx="53629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" y="4014216"/>
            <a:ext cx="676656" cy="676656"/>
          </a:xfrm>
          <a:prstGeom prst="ellipse">
            <a:avLst/>
          </a:prstGeom>
          <a:solidFill>
            <a:srgbClr val="2BB3A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20624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3977640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Reader study &amp; auditable QC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737360" y="4361688"/>
            <a:ext cx="3945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cases to multiple readers; capture decisions + provenance for reliability/audit.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737360" y="5029200"/>
            <a:ext cx="3945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B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 1.3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77356" y="3703320"/>
            <a:ext cx="53629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569964" y="4014216"/>
            <a:ext cx="676656" cy="676656"/>
          </a:xfrm>
          <a:prstGeom prst="ellipse">
            <a:avLst/>
          </a:prstGeom>
          <a:solidFill>
            <a:srgbClr val="13678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88" y="420624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66076" y="3977640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Reproducible pipeline / notebook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466076" y="4361688"/>
            <a:ext cx="3945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ITK-SNAP from Python or an agent in a versioned, reproducible pipeline.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466076" y="5029200"/>
            <a:ext cx="3945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Aims 1.1–1.2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FEASIBILITY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what already ships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4672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Aims 1–4 extends existing, working components — not new subsystems.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6295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91440" cy="749808"/>
          </a:xfrm>
          <a:prstGeom prst="rect">
            <a:avLst/>
          </a:prstGeom>
          <a:solidFill>
            <a:srgbClr val="1496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5740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828800"/>
            <a:ext cx="45399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Programmable workspaces, labels, display  </a:t>
            </a:r>
            <a:pPr indent="0" marL="0">
              <a:buNone/>
            </a:pPr>
            <a:r>
              <a:rPr lang="en-US" sz="120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Logic/WorkspaceAPI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7356" y="1828800"/>
            <a:ext cx="536295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77356" y="1828800"/>
            <a:ext cx="91440" cy="749808"/>
          </a:xfrm>
          <a:prstGeom prst="rect">
            <a:avLst/>
          </a:prstGeom>
          <a:solidFill>
            <a:srgbClr val="1496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388" y="20574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35724" y="1828800"/>
            <a:ext cx="45399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Headless operation today  </a:t>
            </a:r>
            <a:pPr indent="0" marL="0">
              <a:buNone/>
            </a:pPr>
            <a:r>
              <a:rPr lang="en-US" sz="120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itksnap-wt CLI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724912"/>
            <a:ext cx="536295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724912"/>
            <a:ext cx="91440" cy="749808"/>
          </a:xfrm>
          <a:prstGeom prst="rect">
            <a:avLst/>
          </a:prstGeom>
          <a:solidFill>
            <a:srgbClr val="1496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95351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2724912"/>
            <a:ext cx="45399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+ SSH transport  </a:t>
            </a:r>
            <a:pPr indent="0" marL="0">
              <a:buNone/>
            </a:pPr>
            <a:r>
              <a:rPr lang="en-US" sz="120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RESTClient · SSHTunnel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77356" y="2724912"/>
            <a:ext cx="536295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77356" y="2724912"/>
            <a:ext cx="91440" cy="749808"/>
          </a:xfrm>
          <a:prstGeom prst="rect">
            <a:avLst/>
          </a:prstGeom>
          <a:solidFill>
            <a:srgbClr val="1496A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295351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35724" y="2724912"/>
            <a:ext cx="45399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DL-server client (local / remote / SSH)  </a:t>
            </a:r>
            <a:pPr indent="0" marL="0">
              <a:buNone/>
            </a:pPr>
            <a:r>
              <a:rPr lang="en-US" sz="120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DeepLearningSegmentationModel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3621024"/>
            <a:ext cx="536295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48640" y="3621024"/>
            <a:ext cx="91440" cy="749808"/>
          </a:xfrm>
          <a:prstGeom prst="rect">
            <a:avLst/>
          </a:prstGeom>
          <a:solidFill>
            <a:srgbClr val="1496A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849624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07008" y="3621024"/>
            <a:ext cx="45399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submit → await → return  </a:t>
            </a:r>
            <a:pPr indent="0" marL="0">
              <a:buNone/>
            </a:pPr>
            <a:r>
              <a:rPr lang="en-US" sz="120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DistributedSegmentationModel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277356" y="3621024"/>
            <a:ext cx="536295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277356" y="3621024"/>
            <a:ext cx="91440" cy="749808"/>
          </a:xfrm>
          <a:prstGeom prst="rect">
            <a:avLst/>
          </a:prstGeom>
          <a:solidFill>
            <a:srgbClr val="1496A6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388" y="3849624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35724" y="3621024"/>
            <a:ext cx="45399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bindings toolchain  </a:t>
            </a:r>
            <a:pPr indent="0" marL="0">
              <a:buNone/>
            </a:pPr>
            <a:r>
              <a:rPr lang="en-US" sz="120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pybind11 · greedy_python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548640" y="470916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31" name="Text 23"/>
          <p:cNvSpPr/>
          <p:nvPr/>
        </p:nvSpPr>
        <p:spPr>
          <a:xfrm>
            <a:off x="868680" y="470916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~70–80% extends shipped components.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request_review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reuses the async ticket workflow already shipped in DistributedSegmentationModel — with a human as the “worker.”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CAPACITY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can build it in two years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39112"/>
            <a:ext cx="713232" cy="713232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4028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984248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Coding-agent multiplier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83080" y="2404872"/>
            <a:ext cx="38999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coding agents turn a ~3–4 FTE-year scope into something a focused team can deliver — and it dogfoods the very thing we're building.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7356" y="169164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9964" y="2039112"/>
            <a:ext cx="713232" cy="713232"/>
          </a:xfrm>
          <a:prstGeom prst="ellipse">
            <a:avLst/>
          </a:prstGeom>
          <a:solidFill>
            <a:srgbClr val="E892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2" y="224028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11796" y="1984248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Integration, not invention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511796" y="2404872"/>
            <a:ext cx="38999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 wires together mature components: itksnap-dls, greedy, SegFlow4D, FireANTs, WorkspaceAPI, MONAI, Hugging Face.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4005072"/>
            <a:ext cx="713232" cy="713232"/>
          </a:xfrm>
          <a:prstGeom prst="ellipse">
            <a:avLst/>
          </a:prstGeom>
          <a:solidFill>
            <a:srgbClr val="13678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20624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3950208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architecture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783080" y="4370832"/>
            <a:ext cx="38999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ITK-SNAP's strict three-layer separation gives agents clear contracts to target — fast, low-error work.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77356" y="3657600"/>
            <a:ext cx="53629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69964" y="4005072"/>
            <a:ext cx="713232" cy="713232"/>
          </a:xfrm>
          <a:prstGeom prst="ellipse">
            <a:avLst/>
          </a:prstGeom>
          <a:solidFill>
            <a:srgbClr val="2BB3A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420624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11796" y="3950208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safety net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511796" y="4370832"/>
            <a:ext cx="38999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scripted --test harness + CI conformance gate agent-generated code by tests, not trust.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8F1F4"/>
          </a:solidFill>
          <a:ln w="12700">
            <a:solidFill>
              <a:srgbClr val="C9DEE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87044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15568" y="571500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on shipped, adopted code — a mature project, not a prototype or a rewrite.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core — install what your role needs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4672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two ITK-SNAPs: one codebase, the face(s) each user needs.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29384"/>
            <a:ext cx="548640" cy="548640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7568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78308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/ HPC / CI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783080"/>
            <a:ext cx="5788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headless library (no GUI)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274320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04672" y="2889504"/>
            <a:ext cx="548640" cy="548640"/>
          </a:xfrm>
          <a:prstGeom prst="ellipse">
            <a:avLst/>
          </a:prstGeom>
          <a:solidFill>
            <a:srgbClr val="E892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03580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274320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expert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01752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23560" y="2743200"/>
            <a:ext cx="5788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(also agent-ready via MCP)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48640" y="370332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04672" y="3849624"/>
            <a:ext cx="548640" cy="548640"/>
          </a:xfrm>
          <a:prstGeom prst="ellipse">
            <a:avLst/>
          </a:prstGeom>
          <a:solidFill>
            <a:srgbClr val="2BB3A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99592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08760" y="370332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 + occasional human</a:t>
            </a:r>
            <a:endParaRPr lang="en-US" sz="15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977640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623560" y="3703320"/>
            <a:ext cx="5788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library + web viewer (browser — no extra install)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548640" y="475488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841248" y="48463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B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Principles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841248" y="5120640"/>
            <a:ext cx="10506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core makes human-in-the-loop callable &amp; scalable — not optional.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viewer = zero-install human surface  ·  MCP can be C++ or Python (not Python-locked)  ·  pip = the engine, not the GUI app.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4572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routes — pick the ambition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17236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31750">
            <a:solidFill>
              <a:srgbClr val="1496A6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5317236" cy="77724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10512"/>
            <a:ext cx="3305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1 · DOMAIN-SPECIFIC 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66544"/>
            <a:ext cx="4677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$250K / 2 yr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4677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Focused: ITK-SNAP as agentic, human-in-the-loop hub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310128"/>
            <a:ext cx="46314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1 — API + MCP + human-in-the-loop primitives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2 — model serving (itksnap-dls → DLE)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3 — remote data access (one backend)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4 — Slicer/DICOM-SEG interchange (FEBio stretch)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82796" y="1847088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E8924A"/>
          </a:solidFill>
          <a:ln/>
        </p:spPr>
      </p:sp>
      <p:sp>
        <p:nvSpPr>
          <p:cNvPr id="12" name="Text 10"/>
          <p:cNvSpPr/>
          <p:nvPr/>
        </p:nvSpPr>
        <p:spPr>
          <a:xfrm>
            <a:off x="4082796" y="18470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23076" y="1737360"/>
            <a:ext cx="5317236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23076" y="1737360"/>
            <a:ext cx="5317236" cy="7772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643116" y="1810512"/>
            <a:ext cx="3305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2 · ECOSYSTEM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43116" y="2066544"/>
            <a:ext cx="4677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$1M / 2 yr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43116" y="2651760"/>
            <a:ext cx="4677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Ecosystem: ITK-SNAP + greedy + c3d + FireANTs + SegFlow4D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88836" y="3310128"/>
            <a:ext cx="46314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Track 1, fully built out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registration + 4D propagation as a pillar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interop: Slicer + FEBio/OpenSim + napari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domain-adaptation (stretch)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8F1F4"/>
          </a:solidFill>
          <a:ln w="12700">
            <a:solidFill>
              <a:srgbClr val="C9DEE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87568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5568" y="553212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lead with a tight Track 1; Track 2 if we can staff ~4+ FTE-years across the ecosystem.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6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BB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&amp;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 from the PIs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7236" cy="1143000"/>
          </a:xfrm>
          <a:prstGeom prst="roundRect">
            <a:avLst>
              <a:gd name="adj" fmla="val 5600"/>
            </a:avLst>
          </a:prstGeom>
          <a:solidFill>
            <a:srgbClr val="13315C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57400"/>
            <a:ext cx="585216" cy="585216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128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1965960"/>
            <a:ext cx="4128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a track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72768" y="2313432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(focused, $250K) vs. Track 2 (ecosystem, $1M).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23076" y="1783080"/>
            <a:ext cx="5317236" cy="1143000"/>
          </a:xfrm>
          <a:prstGeom prst="roundRect">
            <a:avLst>
              <a:gd name="adj" fmla="val 5600"/>
            </a:avLst>
          </a:prstGeom>
          <a:solidFill>
            <a:srgbClr val="13315C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79108" y="2057400"/>
            <a:ext cx="585216" cy="585216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22128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47204" y="1965960"/>
            <a:ext cx="4128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 PI &amp; maintainer alignment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347204" y="2313432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fit + core-maintainer buy-in (required by the RFA).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108960"/>
            <a:ext cx="5317236" cy="1143000"/>
          </a:xfrm>
          <a:prstGeom prst="roundRect">
            <a:avLst>
              <a:gd name="adj" fmla="val 5600"/>
            </a:avLst>
          </a:prstGeom>
          <a:solidFill>
            <a:srgbClr val="13315C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3383280"/>
            <a:ext cx="585216" cy="585216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387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72768" y="3291840"/>
            <a:ext cx="4128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 org / fiscal sponsor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72768" y="3639312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organization receives &amp; coordinates the grant.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23076" y="3108960"/>
            <a:ext cx="5317236" cy="1143000"/>
          </a:xfrm>
          <a:prstGeom prst="roundRect">
            <a:avLst>
              <a:gd name="adj" fmla="val 5600"/>
            </a:avLst>
          </a:prstGeom>
          <a:solidFill>
            <a:srgbClr val="13315C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79108" y="3383280"/>
            <a:ext cx="585216" cy="585216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556" y="353872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47204" y="3291840"/>
            <a:ext cx="4128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Interop partners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347204" y="3639312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informal interest from a Slicer / FEBio user strengthens the case.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4434840"/>
            <a:ext cx="5317236" cy="1143000"/>
          </a:xfrm>
          <a:prstGeom prst="roundRect">
            <a:avLst>
              <a:gd name="adj" fmla="val 5600"/>
            </a:avLst>
          </a:prstGeom>
          <a:solidFill>
            <a:srgbClr val="13315C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4672" y="4709160"/>
            <a:ext cx="585216" cy="585216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86460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72768" y="4617720"/>
            <a:ext cx="4128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evidence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1572768" y="4965192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ITK-SNAP citation &amp; usage numbers for the impact case.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323076" y="4434840"/>
            <a:ext cx="5317236" cy="1143000"/>
          </a:xfrm>
          <a:prstGeom prst="roundRect">
            <a:avLst>
              <a:gd name="adj" fmla="val 5600"/>
            </a:avLst>
          </a:prstGeom>
          <a:solidFill>
            <a:srgbClr val="13315C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579108" y="4709160"/>
            <a:ext cx="585216" cy="585216"/>
          </a:xfrm>
          <a:prstGeom prst="ellipse">
            <a:avLst/>
          </a:prstGeom>
          <a:solidFill>
            <a:srgbClr val="1496A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4556" y="486460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47204" y="4617720"/>
            <a:ext cx="4128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7347204" y="4965192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due Jun 8 → invitations Jun 23 → full app Jul 21, 2026.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OS4LS 2026  ·  ITK-SNAP AI-Native, Human-in-the-Loop Segmentation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OS4LS 2026 — ITK-SNAP AI-Native Platform</dc:title>
  <dc:subject>PptxGenJS Presentation</dc:subject>
  <dc:creator>ITK-SNAP team</dc:creator>
  <cp:lastModifiedBy>ITK-SNAP team</cp:lastModifiedBy>
  <cp:revision>1</cp:revision>
  <dcterms:created xsi:type="dcterms:W3CDTF">2026-06-03T13:08:27Z</dcterms:created>
  <dcterms:modified xsi:type="dcterms:W3CDTF">2026-06-03T13:08:27Z</dcterms:modified>
</cp:coreProperties>
</file>