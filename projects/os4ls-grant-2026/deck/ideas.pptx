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 SOURCE FOR THE LIFE SCIENCES (OS4LS) · 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82880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ITK-SNAP for AI-Native,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 Segmentation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32688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expert judgment into agentic medical-imaging workflows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32688" y="4343400"/>
            <a:ext cx="5669280" cy="0"/>
          </a:xfrm>
          <a:prstGeom prst="line">
            <a:avLst/>
          </a:prstGeom>
          <a:noFill/>
          <a:ln w="19050">
            <a:solidFill>
              <a:srgbClr val="1496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planning — proposed PIs: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Alison Pouch</a:t>
            </a:r>
            <a:pPr indent="0" marL="0">
              <a:buNone/>
            </a:pPr>
            <a:r>
              <a:rPr lang="en-US" sz="15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&amp;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Yushkevich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Intent due June 8,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OPPORTUNITY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OS4LS: funding open source for AI-native life science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Renaissance Philanthropy fund (successor to CZI's EOSS) for adopted scientific software.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8640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020824"/>
            <a:ext cx="548640" cy="54864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167128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99616" y="20574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funds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59536" y="26974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advances in widely-adopted open-source tools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AI-native, data-intensive, agentic capabilities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 &amp; hardware acceleration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794760"/>
            <a:ext cx="548640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4032504"/>
            <a:ext cx="548640" cy="548640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4178808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99616" y="40690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 of scope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59536" y="47091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rewrite of a legacy tool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new AI/ML models themselves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/ repository infrastructure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355080" y="178308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55080" y="1783080"/>
            <a:ext cx="109728" cy="841248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8" name="Text 14"/>
          <p:cNvSpPr/>
          <p:nvPr/>
        </p:nvSpPr>
        <p:spPr>
          <a:xfrm>
            <a:off x="6675120" y="178308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$250K</a:t>
            </a:r>
            <a:endParaRPr lang="en-US" sz="2300" dirty="0"/>
          </a:p>
        </p:txBody>
      </p:sp>
      <p:sp>
        <p:nvSpPr>
          <p:cNvPr id="19" name="Text 15"/>
          <p:cNvSpPr/>
          <p:nvPr/>
        </p:nvSpPr>
        <p:spPr>
          <a:xfrm>
            <a:off x="9098280" y="178308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— Domain-specific tool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 years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355080" y="274320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55080" y="2743200"/>
            <a:ext cx="109728" cy="841248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22" name="Text 18"/>
          <p:cNvSpPr/>
          <p:nvPr/>
        </p:nvSpPr>
        <p:spPr>
          <a:xfrm>
            <a:off x="6675120" y="274320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$1M</a:t>
            </a:r>
            <a:endParaRPr lang="en-US" sz="2300" dirty="0"/>
          </a:p>
        </p:txBody>
      </p:sp>
      <p:sp>
        <p:nvSpPr>
          <p:cNvPr id="23" name="Text 19"/>
          <p:cNvSpPr/>
          <p:nvPr/>
        </p:nvSpPr>
        <p:spPr>
          <a:xfrm>
            <a:off x="9098280" y="274320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2 — Ecosystem / shared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interoperability, over 2 years</a:t>
            </a:r>
            <a:endParaRPr lang="en-US" sz="1250" dirty="0"/>
          </a:p>
        </p:txBody>
      </p:sp>
      <p:sp>
        <p:nvSpPr>
          <p:cNvPr id="24" name="Shape 20"/>
          <p:cNvSpPr/>
          <p:nvPr/>
        </p:nvSpPr>
        <p:spPr>
          <a:xfrm>
            <a:off x="6355080" y="3703320"/>
            <a:ext cx="5285232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355080" y="3703320"/>
            <a:ext cx="109728" cy="841248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26" name="Text 22"/>
          <p:cNvSpPr/>
          <p:nvPr/>
        </p:nvSpPr>
        <p:spPr>
          <a:xfrm>
            <a:off x="6675120" y="370332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Jun 8</a:t>
            </a:r>
            <a:endParaRPr lang="en-US" sz="2300" dirty="0"/>
          </a:p>
        </p:txBody>
      </p:sp>
      <p:sp>
        <p:nvSpPr>
          <p:cNvPr id="27" name="Text 23"/>
          <p:cNvSpPr/>
          <p:nvPr/>
        </p:nvSpPr>
        <p:spPr>
          <a:xfrm>
            <a:off x="9098280" y="3703320"/>
            <a:ext cx="24505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 of Intent due (2026).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application by invitation.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355080" y="4663440"/>
            <a:ext cx="5285232" cy="960120"/>
          </a:xfrm>
          <a:prstGeom prst="roundRect">
            <a:avLst>
              <a:gd name="adj" fmla="val 6667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629400" y="475488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Priorities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629400" y="5029200"/>
            <a:ext cx="4736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 ·  composable AI pipelines  ·  large-scale data  ·  hardware acceleration  ·  interoperability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CORE IDEA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“Model proposes, human disposes.”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MONAI and Hugging Face already make </a:t>
            </a:r>
            <a:pPr indent="0" marL="0">
              <a:buNone/>
            </a:pPr>
            <a:r>
              <a:rPr lang="en-US" sz="1600" i="1" dirty="0">
                <a:solidFill>
                  <a:srgbClr val="2BB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programmable. What agentic medical-imaging pipelines lack is a way to bring </a:t>
            </a:r>
            <a:pPr indent="0" marL="0">
              <a:buNone/>
            </a:pPr>
            <a:r>
              <a:rPr lang="en-US" sz="1600" i="1" dirty="0">
                <a:solidFill>
                  <a:srgbClr val="2BB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human judgment</a:t>
            </a:r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3063240"/>
            <a:ext cx="676656" cy="67665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3255264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017520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841248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proposes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41248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/ interactive / language models generate a draft segmentation.</a:t>
            </a:r>
            <a:endParaRPr lang="en-US" sz="12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7912" y="3584448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453128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745736" y="3063240"/>
            <a:ext cx="676656" cy="676656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255264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22008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1"/>
          <p:cNvSpPr/>
          <p:nvPr/>
        </p:nvSpPr>
        <p:spPr>
          <a:xfrm>
            <a:off x="4745736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Expert disposes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4745736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verifies, corrects, and approves it in ITK-SNAP — fast, spatial, trusted.</a:t>
            </a:r>
            <a:endParaRPr lang="en-US" sz="12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3584448"/>
            <a:ext cx="329184" cy="329184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8357616" y="2788920"/>
            <a:ext cx="3246120" cy="1920240"/>
          </a:xfrm>
          <a:prstGeom prst="roundRect">
            <a:avLst>
              <a:gd name="adj" fmla="val 381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650224" y="3063240"/>
            <a:ext cx="676656" cy="676656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2248" y="3255264"/>
            <a:ext cx="292608" cy="29260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826496" y="2971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33526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16"/>
          <p:cNvSpPr/>
          <p:nvPr/>
        </p:nvSpPr>
        <p:spPr>
          <a:xfrm>
            <a:off x="8650224" y="38679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Captured as data</a:t>
            </a:r>
            <a:endParaRPr lang="en-US" sz="1700" dirty="0"/>
          </a:p>
        </p:txBody>
      </p:sp>
      <p:sp>
        <p:nvSpPr>
          <p:cNvPr id="24" name="Text 17"/>
          <p:cNvSpPr/>
          <p:nvPr/>
        </p:nvSpPr>
        <p:spPr>
          <a:xfrm>
            <a:off x="8650224" y="42062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Corrections &amp; interactions become labels, prompts, and training data — a feedback loop.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ITK-SNAP's irreplaceable asset is the expert at the screen. We make that judgment callable.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composable surface, many capabilities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0B2545"/>
          </a:solidFill>
          <a:ln/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673352"/>
            <a:ext cx="548640" cy="548640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181965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50876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 — Headless API + MCP endpoint</a:t>
            </a:r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the connective tissue every other capability plugs into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743200"/>
            <a:ext cx="2103120" cy="128016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11" name="Shape 8"/>
          <p:cNvSpPr/>
          <p:nvPr/>
        </p:nvSpPr>
        <p:spPr>
          <a:xfrm>
            <a:off x="1252728" y="3127248"/>
            <a:ext cx="694944" cy="694944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608" y="3310128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 serving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58368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itksnap-dls → DLE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2816352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2816352" y="2743200"/>
            <a:ext cx="2103120" cy="128016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17" name="Shape 13"/>
          <p:cNvSpPr/>
          <p:nvPr/>
        </p:nvSpPr>
        <p:spPr>
          <a:xfrm>
            <a:off x="3520440" y="3127248"/>
            <a:ext cx="694944" cy="694944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320" y="3310128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926080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data access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2926080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· Flywheel · BIDS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084064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084064" y="2743200"/>
            <a:ext cx="2103120" cy="128016"/>
          </a:xfrm>
          <a:prstGeom prst="rect">
            <a:avLst/>
          </a:prstGeom>
          <a:solidFill>
            <a:srgbClr val="E8924A"/>
          </a:solidFill>
          <a:ln/>
        </p:spPr>
      </p:sp>
      <p:sp>
        <p:nvSpPr>
          <p:cNvPr id="23" name="Shape 18"/>
          <p:cNvSpPr/>
          <p:nvPr/>
        </p:nvSpPr>
        <p:spPr>
          <a:xfrm>
            <a:off x="5788152" y="3127248"/>
            <a:ext cx="694944" cy="694944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3310128"/>
            <a:ext cx="329184" cy="32918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193792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Registration &amp; 4D</a:t>
            </a:r>
            <a:endParaRPr lang="en-US" sz="1450" dirty="0"/>
          </a:p>
        </p:txBody>
      </p:sp>
      <p:sp>
        <p:nvSpPr>
          <p:cNvPr id="26" name="Text 20"/>
          <p:cNvSpPr/>
          <p:nvPr/>
        </p:nvSpPr>
        <p:spPr>
          <a:xfrm>
            <a:off x="5193792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FireANTs · SegFlow4D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7351776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7351776" y="2743200"/>
            <a:ext cx="2103120" cy="128016"/>
          </a:xfrm>
          <a:prstGeom prst="rect">
            <a:avLst/>
          </a:prstGeom>
          <a:solidFill>
            <a:srgbClr val="2BB3A3"/>
          </a:solidFill>
          <a:ln/>
        </p:spPr>
      </p:sp>
      <p:sp>
        <p:nvSpPr>
          <p:cNvPr id="29" name="Shape 23"/>
          <p:cNvSpPr/>
          <p:nvPr/>
        </p:nvSpPr>
        <p:spPr>
          <a:xfrm>
            <a:off x="8055864" y="3127248"/>
            <a:ext cx="694944" cy="694944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3310128"/>
            <a:ext cx="329184" cy="32918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461504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Interoperability</a:t>
            </a:r>
            <a:endParaRPr lang="en-US" sz="1450" dirty="0"/>
          </a:p>
        </p:txBody>
      </p:sp>
      <p:sp>
        <p:nvSpPr>
          <p:cNvPr id="32" name="Text 25"/>
          <p:cNvSpPr/>
          <p:nvPr/>
        </p:nvSpPr>
        <p:spPr>
          <a:xfrm>
            <a:off x="7461504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Slicer · FEBio · napari</a:t>
            </a:r>
            <a:endParaRPr lang="en-US" sz="1150" dirty="0"/>
          </a:p>
        </p:txBody>
      </p:sp>
      <p:sp>
        <p:nvSpPr>
          <p:cNvPr id="33" name="Shape 26"/>
          <p:cNvSpPr/>
          <p:nvPr/>
        </p:nvSpPr>
        <p:spPr>
          <a:xfrm>
            <a:off x="9619488" y="2743200"/>
            <a:ext cx="2103120" cy="24688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619488" y="2743200"/>
            <a:ext cx="2103120" cy="128016"/>
          </a:xfrm>
          <a:prstGeom prst="rect">
            <a:avLst/>
          </a:prstGeom>
          <a:solidFill>
            <a:srgbClr val="13678A"/>
          </a:solidFill>
          <a:ln/>
        </p:spPr>
      </p:sp>
      <p:sp>
        <p:nvSpPr>
          <p:cNvPr id="35" name="Shape 28"/>
          <p:cNvSpPr/>
          <p:nvPr/>
        </p:nvSpPr>
        <p:spPr>
          <a:xfrm>
            <a:off x="10323576" y="3127248"/>
            <a:ext cx="694944" cy="694944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6456" y="331012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729216" y="3977640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Viewers &amp; agents</a:t>
            </a:r>
            <a:endParaRPr lang="en-US" sz="1450" dirty="0"/>
          </a:p>
        </p:txBody>
      </p:sp>
      <p:sp>
        <p:nvSpPr>
          <p:cNvPr id="38" name="Text 30"/>
          <p:cNvSpPr/>
          <p:nvPr/>
        </p:nvSpPr>
        <p:spPr>
          <a:xfrm>
            <a:off x="9729216" y="4572000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IDE · in-app</a:t>
            </a:r>
            <a:endParaRPr lang="en-US" sz="1150" dirty="0"/>
          </a:p>
        </p:txBody>
      </p:sp>
      <p:sp>
        <p:nvSpPr>
          <p:cNvPr id="39" name="Shape 3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tools once; every frontend (GUI, Python, agents, other tools) plugs into the same surface.</a:t>
            </a:r>
            <a:endParaRPr lang="en-US" sz="1250" dirty="0"/>
          </a:p>
        </p:txBody>
      </p:sp>
      <p:sp>
        <p:nvSpPr>
          <p:cNvPr id="42" name="Text 3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43" name="Text 34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Composable human-in-the-loop core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headless inference (MONAI/HF do that) — making expert judgment an orchestrable step.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Headless API + Python wrapper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Scriptable core over the toolkit-independent layer.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pip-installable; batch &amp; reproducible workflows.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existing Logic/WorkspaceAPI.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Local MCP server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Agent-facing endpoint (MCP / tool-style).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Client-launched stdio — no hosting, PHI stays local.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remote (HTTP) mode for cloud.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 primitives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request_review() → corrected seg + decision.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clicks/scribbles/edits as labels &amp; signals.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human-in-the-loop data engine.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differentiator: expert verification, correction &amp; interaction-capture — callable from any agent.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model serving — itksnap-dls → DLE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 our shipped server from one model into a model-agnostic serving layer.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model classes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(nnInteractive, MedSAM2).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Fully-automatic (e.g. spleen / organ in CT).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Language-vision (text-prompted).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Dynamic model discovery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model list in the GUI.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query the server for models + capabilities.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models appear without a GUI release.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Contributor toolkit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 wrapper contract + scaffolding.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Agent-assisted, CI-conformance-gated PRs.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scaling &amp; sustainability engine.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the shipped itksnap-dls (nnInteractive, REST) — preliminary work, not a prototype.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AIM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data access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Find, view, and segment imaging wherever it lives — without download/upload cycles.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Pluggable backends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filesystem, remote Linux (SSH), Flywheel.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interface; framework for community plugins.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XNAT-ready.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DICOM / BIDS aware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series &amp; BIDS structure.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display + search.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range reads on large remote files.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Remote-aware workspaces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remote images in a workspace.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/ save without pulling full image data.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 via OS keychain.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the data-intensive priority; lowest-risk, soundest plumbing.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REGISTRATION &amp; 4D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GPU-accelerated registration &amp; longitudinal propagation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hardware-acceleration pillar — and the real within-subject longitudinal capability.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FireANTs + greedy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(PyTorch) and CPU registration.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backend-agnostic surface.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 faster / lighter than DL &amp; traditional.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SegFlow4D propagation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Propagate a segmentation across all 4D frames.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Warps label maps AND surface meshes.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 backends (FireANTs / greedy / ANTs).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Longitudinal reuse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monitoring, serial imaging.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Training-data generation across time.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Registration-based — no model retraining.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Within-subject reuse via registration; lower-risk complement to model adaptation.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INTEROPERABILITY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Composable with the tools researchers use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formats + one or two reference integrations — not a pairwise connector zoo.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3D Slicer interchange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label names, colors, hierarchy, coding.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DICOM-SEG as the lingua franca.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as the human checkpoint for Slicer.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Segmentation → biomechanics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 seg → material-tagged tet mesh.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FEBio / OpenSim.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/ mitral-valve / musculoskeletal.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interop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as a node in napari / MONAI.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the Aim 1 API + serving protocol.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recipes, not bespoke glue.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4D meshes (SegFlow4D) → time-resolved biomechanics: e.g. mitral valve over the cardiac cycle.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 SURFACES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the human meets the agent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04672" y="126187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viewer, reachable from browser, IDE, and inside ITK-SNAP.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304288"/>
            <a:ext cx="658368" cy="658368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248716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41248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viewer / QC panel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+ 3D rendering (niivue / WebAssembly).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Inspect, correct, accept/reject results.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from the headless API.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2304288"/>
            <a:ext cx="658368" cy="658368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2487168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62856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 Code / Cursor webview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4562856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viewer embedded in the AI IDE.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 switch from the agent.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handoff: summon → inspect → callback.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991856" y="2011680"/>
            <a:ext cx="3474720" cy="35204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84464" y="2304288"/>
            <a:ext cx="658368" cy="658368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2487168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84464" y="31089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In-app agent panel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84464" y="3767328"/>
            <a:ext cx="296265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Bring-your-own-agent (MCP), not a clone.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GUI context: 'segment this'.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Vendor-neutral; undo/provenance for safety.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summons the right view (deep-linked) → human disposes → structured result flows back.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FEASIBILITY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is achievable in a 2-year scope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39112"/>
            <a:ext cx="713232" cy="713232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40280"/>
            <a:ext cx="310896" cy="3108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83080" y="198424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Coding-agent multiplier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83080" y="240487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AI coding agents turn a ~3–4 FTE-year scope into something a focused team can deliver — and it dogfoods the very thing we're building.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7356" y="169164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69964" y="2039112"/>
            <a:ext cx="713232" cy="713232"/>
          </a:xfrm>
          <a:prstGeom prst="ellipse">
            <a:avLst/>
          </a:prstGeom>
          <a:solidFill>
            <a:srgbClr val="E892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1132" y="224028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11796" y="198424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Integration, not invention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511796" y="240487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work wires together mature components: itksnap-dls, greedy, SegFlow4D, FireANTs, WorkspaceAPI, MONAI, Hugging Face.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1248" y="4005072"/>
            <a:ext cx="713232" cy="713232"/>
          </a:xfrm>
          <a:prstGeom prst="ellipse">
            <a:avLst/>
          </a:prstGeom>
          <a:solidFill>
            <a:srgbClr val="13678A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206240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83080" y="395020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 architecture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783080" y="437083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ITK-SNAP's strict three-layer separation gives agents clear contracts to target — fast, low-error work.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77356" y="3657600"/>
            <a:ext cx="5362956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69964" y="4005072"/>
            <a:ext cx="713232" cy="713232"/>
          </a:xfrm>
          <a:prstGeom prst="ellipse">
            <a:avLst/>
          </a:prstGeom>
          <a:solidFill>
            <a:srgbClr val="2BB3A3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132" y="4206240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511796" y="3950208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Automated safety net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511796" y="4370832"/>
            <a:ext cx="38999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scripted --test harness + CI conformance gate agent-generated code by tests, not trust.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870448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115568" y="571500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on shipped, adopted code — a mature project, not a prototype or a rewrite.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146304" cy="4572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0233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678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STRATEGY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04672" y="65836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routes — pick the ambition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17236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31750">
            <a:solidFill>
              <a:srgbClr val="1496A6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37360"/>
            <a:ext cx="5317236" cy="77724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810512"/>
            <a:ext cx="3305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 · DOMAIN-SPECIFIC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2066544"/>
            <a:ext cx="4677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$250K / 2 yr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2651760"/>
            <a:ext cx="4677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Focused: ITK-SNAP as agentic, human-in-the-loop hub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310128"/>
            <a:ext cx="46314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1 — API + MCP + human-in-the-loop primitives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2 — model serving (itksnap-dls → DLE)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3 — remote data access (one backend)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4 — Slicer/DICOM-SEG interchange (FEBio stretch)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082796" y="1847088"/>
            <a:ext cx="1463040" cy="384048"/>
          </a:xfrm>
          <a:prstGeom prst="roundRect">
            <a:avLst>
              <a:gd name="adj" fmla="val 23810"/>
            </a:avLst>
          </a:prstGeom>
          <a:solidFill>
            <a:srgbClr val="E8924A"/>
          </a:solidFill>
          <a:ln/>
        </p:spPr>
      </p:sp>
      <p:sp>
        <p:nvSpPr>
          <p:cNvPr id="12" name="Text 10"/>
          <p:cNvSpPr/>
          <p:nvPr/>
        </p:nvSpPr>
        <p:spPr>
          <a:xfrm>
            <a:off x="4082796" y="184708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RECOMMENDED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23076" y="1737360"/>
            <a:ext cx="5317236" cy="3611880"/>
          </a:xfrm>
          <a:prstGeom prst="roundRect">
            <a:avLst>
              <a:gd name="adj" fmla="val 2278"/>
            </a:avLst>
          </a:prstGeom>
          <a:solidFill>
            <a:srgbClr val="FFFFFF"/>
          </a:solidFill>
          <a:ln w="12700">
            <a:solidFill>
              <a:srgbClr val="DCE5EF"/>
            </a:solidFill>
            <a:prstDash val="solid"/>
          </a:ln>
          <a:effectLst>
            <a:outerShdw sx="100000" sy="100000" kx="0" ky="0" algn="bl" rotWithShape="0" blurRad="114300" dist="38100" dir="5400000">
              <a:srgbClr val="0B2545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23076" y="1737360"/>
            <a:ext cx="5317236" cy="77724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5" name="Text 13"/>
          <p:cNvSpPr/>
          <p:nvPr/>
        </p:nvSpPr>
        <p:spPr>
          <a:xfrm>
            <a:off x="6643116" y="1810512"/>
            <a:ext cx="33055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2 · ECOSYSTEM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43116" y="2066544"/>
            <a:ext cx="46771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$1M / 2 yr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643116" y="2651760"/>
            <a:ext cx="46771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Ecosystem: ITK-SNAP + greedy + c3d + FireANTs + SegFlow4D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88836" y="3310128"/>
            <a:ext cx="463143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Track 1, fully built out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registration + 4D propagation as a pillar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interop: Slicer + FEBio/OpenSim + napari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34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domain-adaptation (stretch)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53212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E8F1F4"/>
          </a:solidFill>
          <a:ln w="12700">
            <a:solidFill>
              <a:srgbClr val="C9DEE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687568"/>
            <a:ext cx="256032" cy="2560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115568" y="5532120"/>
            <a:ext cx="10360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67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lead with a tight Track 1; Track 2 if we can staff ~4+ FTE-years across the ecosystem.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96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48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BB3A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9611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need from the PIs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05740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12848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196596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a track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72768" y="231343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1 (focused, $250K) vs. Track 2 (ecosystem, $1M).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323076" y="178308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79108" y="205740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4556" y="2212848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47204" y="196596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Confirm PI &amp; maintainer alignment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347204" y="231343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fit + core-maintainer buy-in (required by the RFA).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310896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04672" y="338328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53872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72768" y="329184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 org / fiscal sponsor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572768" y="363931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organization receives &amp; coordinates the grant.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323076" y="310896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79108" y="338328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556" y="3538728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47204" y="329184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Interop partners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7347204" y="363931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informal interest from a Slicer / FEBio user strengthens the case.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48640" y="443484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04672" y="470916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64608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72768" y="461772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Adoption evidence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1572768" y="496519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ITK-SNAP citation &amp; usage numbers for the impact case.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323076" y="4434840"/>
            <a:ext cx="5317236" cy="1143000"/>
          </a:xfrm>
          <a:prstGeom prst="roundRect">
            <a:avLst>
              <a:gd name="adj" fmla="val 5600"/>
            </a:avLst>
          </a:prstGeom>
          <a:solidFill>
            <a:srgbClr val="13315C"/>
          </a:solidFill>
          <a:ln w="12700">
            <a:solidFill>
              <a:srgbClr val="27496B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579108" y="4709160"/>
            <a:ext cx="585216" cy="585216"/>
          </a:xfrm>
          <a:prstGeom prst="ellipse">
            <a:avLst/>
          </a:prstGeom>
          <a:solidFill>
            <a:srgbClr val="1496A6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556" y="4864608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347204" y="4617720"/>
            <a:ext cx="4128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Timeline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7347204" y="4965192"/>
            <a:ext cx="41285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LOI due Jun 8 → invitations Jun 23 → full app Jul 21, 2026.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OS4LS 2026  ·  ITK-SNAP AI-Native, Human-in-the-Loop Segmentation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OS4LS 2026 — ITK-SNAP AI-Native Platform</dc:title>
  <dc:subject>PptxGenJS Presentation</dc:subject>
  <dc:creator>ITK-SNAP team</dc:creator>
  <cp:lastModifiedBy>ITK-SNAP team</cp:lastModifiedBy>
  <cp:revision>1</cp:revision>
  <dcterms:created xsi:type="dcterms:W3CDTF">2026-06-02T15:38:46Z</dcterms:created>
  <dcterms:modified xsi:type="dcterms:W3CDTF">2026-06-02T15:38:46Z</dcterms:modified>
</cp:coreProperties>
</file>