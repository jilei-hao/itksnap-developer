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3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4106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Audience: cardiac users, not developers. Set expectation early: this is a status update, and there is no release date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no-date bullet out loud here rather than letting them wait for it. Honesty up front buys you the rest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real time here — for anyone whose data is on a server or in Flywheel this is the most immediately useful thing in the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you use it: AI paintbrush, left button includes / right button excludes. Or turn on AI mode for the polygon tool and your outline becomes a lasso prompt. Changing the active label resets the interaction.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or two sentences on the AI-agent angle, then move on. This audience is not here for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present 4D cardiac I/O as shipping. It is on a branch and merge decisions are pending. This is the easiest slip to make with this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mock-up banner visible. Do not let anyone leave thinking this exists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behind this is TotalSegmentator, which is written and on a branch today. nnInteractive and SAM2 are what you can use now — keep the three separate.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Shot 4 carries the talk for this audience — use real cardiac data. Scrub credentials and PHI from every shot before showing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This is a deliberate beat -- do not talk over it.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ACCURACY: it is SUBMITTED, not accepted -- notification is 26 August, after this talk. Do not say 'accepted'.
Say clearly that this is not in 4.6 and is not competing with the cardiac roadmap; it lives on a separate branch.
Clip 2 is the star. If you are short on time, play only that one.
Honest limitation if asked: the confidence gate that decides which cases get routed to a human is implemented and unit-tested but not yet wired into the flow -- today a person still chooses. That is the next increment.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H60bflq-O1o?feature=oembed" TargetMode="Externa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371600"/>
            <a:ext cx="4754880" cy="475488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2F3C7E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8595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ITK-SNAP 4.6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31546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release stands, and what's coming for cardiac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CF6F5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4.6.0-alpha.1  ·  Lab update,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4.6 stands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things, and then the detail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383280" cy="3063240"/>
          </a:xfrm>
          <a:prstGeom prst="roundRect">
            <a:avLst>
              <a:gd name="adj" fmla="val 2985"/>
            </a:avLst>
          </a:prstGeom>
          <a:solidFill>
            <a:srgbClr val="F6EBEB"/>
          </a:solidFill>
          <a:ln/>
          <a:effectLst>
            <a:outerShdw blurRad="101600" dist="25400" dir="5400000" algn="bl" rotWithShape="0">
              <a:srgbClr val="9A8B8B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7824" y="2532888"/>
            <a:ext cx="420624" cy="420624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7824" y="3108960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already in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77824" y="3959352"/>
            <a:ext cx="2724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images and whole workspaces straight from a URL. Two AI-assisted segmentation models you can use today.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89120" y="2286000"/>
            <a:ext cx="3383280" cy="3063240"/>
          </a:xfrm>
          <a:prstGeom prst="roundRect">
            <a:avLst>
              <a:gd name="adj" fmla="val 2985"/>
            </a:avLst>
          </a:prstGeom>
          <a:solidFill>
            <a:srgbClr val="F6EBEB"/>
          </a:solidFill>
          <a:ln/>
          <a:effectLst>
            <a:outerShdw blurRad="101600" dist="25400" dir="5400000" algn="bl" rotWithShape="0">
              <a:srgbClr val="9A8B8B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18304" y="2532888"/>
            <a:ext cx="420624" cy="420624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18304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18304" y="3108960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coming — cardiac first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18304" y="3959352"/>
            <a:ext cx="2724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across phases, 4D cardiac I/O, one-button automatic segmentation, and mesh tooling.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229600" y="2286000"/>
            <a:ext cx="3383280" cy="3063240"/>
          </a:xfrm>
          <a:prstGeom prst="roundRect">
            <a:avLst>
              <a:gd name="adj" fmla="val 2985"/>
            </a:avLst>
          </a:prstGeom>
          <a:solidFill>
            <a:srgbClr val="F6EBEB"/>
          </a:solidFill>
          <a:ln/>
          <a:effectLst>
            <a:outerShdw blurRad="101600" dist="25400" dir="5400000" algn="bl" rotWithShape="0">
              <a:srgbClr val="9A8B8B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58784" y="2532888"/>
            <a:ext cx="420624" cy="420624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58784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58784" y="3108960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release date yet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558784" y="3959352"/>
            <a:ext cx="2724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most visible cardiac features are waiting on one piece of server work. Slide 7 says which.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your data straight from a URL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block of work in 4.6 — done and merged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study data stays where it lives.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ITK-SNAP now opens images — and whole workspaces — directly from a URL. No download step, and no local copy quietly drifting out of sync with the server.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workspace with several layers opens over a single authenticated connection, and the second time you open it, it comes from the local cache instantly.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35040" y="1783080"/>
            <a:ext cx="5577840" cy="868680"/>
          </a:xfrm>
          <a:prstGeom prst="roundRect">
            <a:avLst>
              <a:gd name="adj" fmla="val 10526"/>
            </a:avLst>
          </a:prstGeom>
          <a:solidFill>
            <a:srgbClr val="FCF6F5"/>
          </a:solidFill>
          <a:ln/>
          <a:effectLst>
            <a:outerShdw blurRad="101600" dist="25400" dir="5400000" algn="bl" rotWithShape="0">
              <a:srgbClr val="9A8B8B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09360" y="188366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scp://   sftp://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09360" y="22402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lab server, over SSH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2816352"/>
            <a:ext cx="5577840" cy="868680"/>
          </a:xfrm>
          <a:prstGeom prst="roundRect">
            <a:avLst>
              <a:gd name="adj" fmla="val 10526"/>
            </a:avLst>
          </a:prstGeom>
          <a:solidFill>
            <a:srgbClr val="FCF6F5"/>
          </a:solidFill>
          <a:ln/>
          <a:effectLst>
            <a:outerShdw blurRad="101600" dist="25400" dir="5400000" algn="bl" rotWithShape="0">
              <a:srgbClr val="9A8B8B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09360" y="291693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   https://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9360" y="327355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datasets, cached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3849624"/>
            <a:ext cx="5577840" cy="868680"/>
          </a:xfrm>
          <a:prstGeom prst="roundRect">
            <a:avLst>
              <a:gd name="adj" fmla="val 10526"/>
            </a:avLst>
          </a:prstGeom>
          <a:solidFill>
            <a:srgbClr val="F6EBEB"/>
          </a:solidFill>
          <a:ln/>
          <a:effectLst>
            <a:outerShdw blurRad="101600" dist="25400" dir="5400000" algn="bl" rotWithShape="0">
              <a:srgbClr val="9A8B8B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0" y="39502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00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fw://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430682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Flywheel, with API-key auto-load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4882896"/>
            <a:ext cx="5577840" cy="868680"/>
          </a:xfrm>
          <a:prstGeom prst="roundRect">
            <a:avLst>
              <a:gd name="adj" fmla="val 10526"/>
            </a:avLst>
          </a:prstGeom>
          <a:solidFill>
            <a:srgbClr val="FCF6F5"/>
          </a:solidFill>
          <a:ln/>
          <a:effectLst>
            <a:outerShdw blurRad="101600" dist="25400" dir="5400000" algn="bl" rotWithShape="0">
              <a:srgbClr val="9A8B8B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9360" y="49834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itksnap-fw://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534009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 that opens in a running ITK-SNAP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AI models today — not interchangeable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you pick matters for cardiac 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F6EBEB"/>
          </a:solidFill>
          <a:ln/>
          <a:effectLst>
            <a:outerShdw blurRad="101600" dist="25400" dir="5400000" algn="bl" rotWithShape="0">
              <a:srgbClr val="9A8B8B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938528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nnInteractive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68680" y="23591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CARDIAC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76148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276148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— scribble one slice, get the whole structure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31012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331012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point, box, scribble (paintbrush), lasso (polygon)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385876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type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385876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440740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440740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images (DKFZ, nnU-Net lineage)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63640" y="178308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FCF6F5"/>
          </a:solidFill>
          <a:ln/>
          <a:effectLst>
            <a:outerShdw blurRad="101600" dist="25400" dir="5400000" algn="bl" rotWithShape="0">
              <a:srgbClr val="9A8B8B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0" y="1938528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583680" y="23591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2D, POINT PROMPTS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276148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01000" y="276148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— one slice at a time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83680" y="331012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01000" y="331012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83680" y="385876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type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01000" y="385876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or colour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83680" y="440740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01000" y="440740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images and video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48640" y="5230368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2F3C7E"/>
          </a:solidFill>
          <a:ln/>
          <a:effectLst>
            <a:outerShdw blurRad="101600" dist="25400" dir="5400000" algn="bl" rotWithShape="0">
              <a:srgbClr val="9A8B8B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8680" y="5230368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cardiac chambers and myocardium, use nnInteractive.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3D-native and medically trained — one scribble on a short-axis slice propagates through the stack.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 new in 4.6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5349240" cy="1645920"/>
          </a:xfrm>
          <a:prstGeom prst="roundRect">
            <a:avLst>
              <a:gd name="adj" fmla="val 5556"/>
            </a:avLst>
          </a:prstGeom>
          <a:solidFill>
            <a:srgbClr val="FCF6F5"/>
          </a:solidFill>
          <a:ln/>
          <a:effectLst>
            <a:outerShdw blurRad="101600" dist="25400" dir="5400000" algn="bl" rotWithShape="0">
              <a:srgbClr val="9A8B8B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" y="2194560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215798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across windows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6517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Window menu listing every running ITK-SNAP, and Send to Other Window between them.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920240"/>
            <a:ext cx="5349240" cy="1645920"/>
          </a:xfrm>
          <a:prstGeom prst="roundRect">
            <a:avLst>
              <a:gd name="adj" fmla="val 5556"/>
            </a:avLst>
          </a:prstGeom>
          <a:solidFill>
            <a:srgbClr val="FCF6F5"/>
          </a:solidFill>
          <a:ln/>
          <a:effectLst>
            <a:outerShdw blurRad="101600" dist="25400" dir="5400000" algn="bl" rotWithShape="0">
              <a:srgbClr val="9A8B8B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83680" y="2194560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0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78040" y="215798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 a running task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26517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X in the progress overlay stops a long download or computation.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5349240" cy="1645920"/>
          </a:xfrm>
          <a:prstGeom prst="roundRect">
            <a:avLst>
              <a:gd name="adj" fmla="val 5556"/>
            </a:avLst>
          </a:prstGeom>
          <a:solidFill>
            <a:srgbClr val="FCF6F5"/>
          </a:solidFill>
          <a:ln/>
          <a:effectLst>
            <a:outerShdw blurRad="101600" dist="25400" dir="5400000" algn="bl" rotWithShape="0">
              <a:srgbClr val="9A8B8B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68680" y="4251960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421538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formats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7091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.vti and .vtp I/O, and .seq.nrrd sequence export — contributed from our fork.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63640" y="3977640"/>
            <a:ext cx="5349240" cy="1645920"/>
          </a:xfrm>
          <a:prstGeom prst="roundRect">
            <a:avLst>
              <a:gd name="adj" fmla="val 5556"/>
            </a:avLst>
          </a:prstGeom>
          <a:solidFill>
            <a:srgbClr val="FCF6F5"/>
          </a:solidFill>
          <a:ln/>
          <a:effectLst>
            <a:outerShdw blurRad="101600" dist="25400" dir="5400000" algn="bl" rotWithShape="0">
              <a:srgbClr val="9A8B8B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83680" y="4251960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0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78040" y="421538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Clearer failure on big images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47091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explicit out-of-memory dialog instead of a hard failure.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Stability since 4.4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F6EBEB"/>
          </a:solidFill>
          <a:ln/>
          <a:effectLst>
            <a:outerShdw blurRad="101600" dist="25400" dir="5400000" algn="bl" rotWithShape="0">
              <a:srgbClr val="9A8B8B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548640" y="3154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dirty="0">
                <a:solidFill>
                  <a:srgbClr val="6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bugfixes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89120" y="164592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FCF6F5"/>
          </a:solidFill>
          <a:ln/>
          <a:effectLst>
            <a:outerShdw blurRad="101600" dist="25400" dir="5400000" algn="bl" rotWithShape="0">
              <a:srgbClr val="9A8B8B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0" y="182880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4389120" y="3154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dirty="0">
                <a:solidFill>
                  <a:srgbClr val="6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leaks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0" y="164592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FCF6F5"/>
          </a:solidFill>
          <a:ln/>
          <a:effectLst>
            <a:outerShdw blurRad="101600" dist="25400" dir="5400000" algn="bl" rotWithShape="0">
              <a:srgbClr val="9A8B8B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0" y="182880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8229600" y="3154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dirty="0">
                <a:solidFill>
                  <a:srgbClr val="6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 fixed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dirty="0">
                <a:solidFill>
                  <a:srgbClr val="6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4343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a server connection race and two long-standing DICOM crash and hang bugs.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CF6F5"/>
          </a:solidFill>
          <a:ln/>
          <a:effectLst>
            <a:outerShdw blurRad="101600" dist="25400" dir="5400000" algn="bl" rotWithShape="0">
              <a:srgbClr val="9A8B8B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49377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note on how: </a:t>
            </a:r>
            <a:r>
              <a:rPr lang="en-US" sz="14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lot of this was found by pointing AI coding agents at the codebase and at our own crash logs — including a regression that had been dormant since March.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coming — cardiac first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order they matter to this room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6EBEB"/>
          </a:solidFill>
          <a:ln/>
          <a:effectLst>
            <a:outerShdw blurRad="101600" dist="25400" dir="5400000" algn="bl" rotWithShape="0">
              <a:srgbClr val="9A8B8B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1920240"/>
            <a:ext cx="420624" cy="420624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Propagation across phases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17320" y="2139696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one cardiac phase, propagate to the rest.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0" y="1956816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server work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CF6F5"/>
          </a:solidFill>
          <a:ln/>
          <a:effectLst>
            <a:outerShdw blurRad="101600" dist="25400" dir="5400000" algn="bl" rotWithShape="0">
              <a:srgbClr val="9A8B8B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04672" y="2852928"/>
            <a:ext cx="420624" cy="420624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2852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73405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4D cardiac I/O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417320" y="307238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and time handling for cine CTA and echo, plus sequence export.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0" y="2889504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branch — not yet merged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84448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6EBEB"/>
          </a:solidFill>
          <a:ln/>
          <a:effectLst>
            <a:outerShdw blurRad="101600" dist="25400" dir="5400000" algn="bl" rotWithShape="0">
              <a:srgbClr val="9A8B8B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4672" y="3785616"/>
            <a:ext cx="420624" cy="420624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4672" y="3785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66674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cmesh integration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417320" y="400507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operations move to a proper shared library.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0" y="382219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a release tag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517136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CF6F5"/>
          </a:solidFill>
          <a:ln/>
          <a:effectLst>
            <a:outerShdw blurRad="101600" dist="25400" dir="5400000" algn="bl" rotWithShape="0">
              <a:srgbClr val="9A8B8B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04672" y="4718304"/>
            <a:ext cx="420624" cy="420624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4672" y="4718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459943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One-button automatic segmentation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417320" y="493776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model, press once, get labelled cardiac anatomy — no prompts.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0" y="47548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server work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54864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on the list:  </a:t>
            </a:r>
            <a:r>
              <a:rPr lang="en-US" sz="1300" dirty="0">
                <a:solidFill>
                  <a:srgbClr val="6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3D/2D cursor sync under free rotation (a bug), developer documentation, and a rolling bugfix stream.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saying once:  </a:t>
            </a:r>
            <a:r>
              <a:rPr lang="en-US" sz="145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and automatic segmentation wait on the same piece of server work. It is already written — it needs promoting, not inventing.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propagation will look like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732520" y="384048"/>
            <a:ext cx="2880360" cy="384048"/>
          </a:xfrm>
          <a:prstGeom prst="roundRect">
            <a:avLst>
              <a:gd name="adj" fmla="val 19048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732520" y="38404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MOCK-UP</a:t>
            </a:r>
            <a:endParaRPr lang="en-US" sz="1150" dirty="0"/>
          </a:p>
        </p:txBody>
      </p:sp>
      <p:pic>
        <p:nvPicPr>
          <p:cNvPr id="5" name="Image 0" descr="/private/tmp/claude-501/-Users-jileihao-dev-itksnap-dev-itksnap-developer/5fd3005e-d878-4d09-9acc-77472ac3b85b/scratchpad/deck/mockup_propag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115568"/>
            <a:ext cx="9326880" cy="5175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0080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6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one phase by hand. Press Propagate. The rest are filled in — on the server, with progress, cancellable.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automatic segmentation will look like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732520" y="384048"/>
            <a:ext cx="2880360" cy="384048"/>
          </a:xfrm>
          <a:prstGeom prst="roundRect">
            <a:avLst>
              <a:gd name="adj" fmla="val 19048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732520" y="38404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MOCK-UP</a:t>
            </a:r>
            <a:endParaRPr lang="en-US" sz="1150" dirty="0"/>
          </a:p>
        </p:txBody>
      </p:sp>
      <p:pic>
        <p:nvPicPr>
          <p:cNvPr id="5" name="Image 0" descr="/private/tmp/claude-501/-Users-jileihao-dev-itksnap-dev-itksnap-developer/5fd3005e-d878-4d09-9acc-77472ac3b85b/scratchpad/deck/mockup_auto_segmen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115568"/>
            <a:ext cx="9326880" cy="5175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0080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6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image, pick a model, press Segment — labelled cardiac anatomy with real names and colours.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840480"/>
            <a:ext cx="4206240" cy="4206240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Pre-recorded — because this is a network feature, and I am not gambling a live SSH handshake on the room's wifi.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see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five minutes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37944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837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Flywheel URL — the image opens, with no download step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2587752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532888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 load mid-download from the progress overlay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3282696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multi-layer workspace over one connection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40080" y="4087368"/>
            <a:ext cx="402336" cy="402336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087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4032504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nnInteractive: scribble one short-axis slice, get the 3D chamber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40080" y="4837176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837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4782312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an image to a second ITK-SNAP window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640080" y="5586984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5586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55321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Re-open the same remote image — instant, from cache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4572000" cy="4572000"/>
          </a:xfrm>
          <a:prstGeom prst="ellipse">
            <a:avLst/>
          </a:prstGeom>
          <a:solidFill>
            <a:srgbClr val="2F3C7E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refactor — it unblocks propagation and automatic segmentation together.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need from you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127248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use Flywheel — try the fw:// path and tell me what breaks.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datasets I can test propagation against.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4709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release date yet. The next checkpoint is that server work landing.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73000">
              <a:schemeClr val="accent1">
                <a:lumMod val="50000"/>
              </a:schemeClr>
            </a:gs>
            <a:gs pos="100000">
              <a:srgbClr val="C00000">
                <a:lumMod val="82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6517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FFFFFF"/>
                </a:solidFill>
                <a:latin typeface="Helvetica" pitchFamily="2" charset="0"/>
                <a:ea typeface="Cambria" pitchFamily="34" charset="-122"/>
                <a:cs typeface="Cambria" pitchFamily="34" charset="-120"/>
              </a:rPr>
              <a:t>One more thing…</a:t>
            </a:r>
            <a:endParaRPr lang="en-US" sz="6000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ITK-SNAP, callable by an AI agent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 prototype — not part of 4.6, and not on the 4.6 roadmap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proposes, human disposes.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5394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can drive ITK-SNAP over the Model Context Protocol — open a study, run a model, apply a segmentation, hand the uncertain cases to a person.</a:t>
            </a:r>
            <a:endParaRPr lang="en-US" sz="1550" dirty="0"/>
          </a:p>
          <a:p>
            <a:pPr marL="0" indent="0">
              <a:lnSpc>
                <a:spcPct val="120000"/>
              </a:lnSpc>
              <a:buNone/>
            </a:pPr>
            <a:endParaRPr lang="en-US" sz="15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every edit comes back as a structured record of what changed and who changed it — the agent, or you.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48920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6EBEB"/>
          </a:solidFill>
          <a:ln/>
          <a:effectLst>
            <a:outerShdw blurRad="101600" dist="25400" dir="5400000" algn="bl" rotWithShape="0">
              <a:srgbClr val="9A8B8B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48920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the SIIM-CAIMI26 AI Builder Showcase.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Hao · Pouch · Yushkevich. Notification late August; conference is 26–27 October, at Penn.</a:t>
            </a:r>
            <a:endParaRPr lang="en-US" sz="1300" dirty="0"/>
          </a:p>
        </p:txBody>
      </p:sp>
      <p:pic>
        <p:nvPicPr>
          <p:cNvPr id="24" name="Online Media 23" descr="ITKSNAP Agentic API Demo">
            <a:hlinkClick r:id="" action="ppaction://media"/>
            <a:extLst>
              <a:ext uri="{FF2B5EF4-FFF2-40B4-BE49-F238E27FC236}">
                <a16:creationId xmlns:a16="http://schemas.microsoft.com/office/drawing/2014/main" id="{8B8AA57B-4B03-19D8-AE1F-00334AFD9ED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433736" y="1207008"/>
            <a:ext cx="5209624" cy="39072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1351</Words>
  <Application>Microsoft Macintosh PowerPoint</Application>
  <PresentationFormat>Widescreen</PresentationFormat>
  <Paragraphs>156</Paragraphs>
  <Slides>14</Slides>
  <Notes>14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ITK-SNAP 4.6 status</dc:title>
  <dc:subject>PptxGenJS Presentation</dc:subject>
  <dc:creator>Jilei Hao</dc:creator>
  <cp:lastModifiedBy>Hao, Jilei</cp:lastModifiedBy>
  <cp:revision>3</cp:revision>
  <dcterms:created xsi:type="dcterms:W3CDTF">2026-08-07T16:39:24Z</dcterms:created>
  <dcterms:modified xsi:type="dcterms:W3CDTF">2026-08-07T16:58:32Z</dcterms:modified>
</cp:coreProperties>
</file>